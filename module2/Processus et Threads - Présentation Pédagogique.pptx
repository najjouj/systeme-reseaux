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3641"/>
            <a:ext cx="123825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28441"/>
            <a:ext cx="5344730" cy="591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0F172A"/>
                </a:solidFill>
                <a:latin typeface="Plus Jakarta Sans"/>
              </a:rPr>
              <a:t>Processus et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62758"/>
            <a:ext cx="60674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284C7"/>
                </a:solidFill>
                <a:latin typeface="Inter SemiBold"/>
              </a:rPr>
              <a:t>Cycle de vie, ordonnancement et gestion de la concurrence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24758"/>
            <a:ext cx="904875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4148583"/>
            <a:ext cx="2040880" cy="36195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Enseignant 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[Prénom NOM]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2905" y="4148583"/>
            <a:ext cx="2929086" cy="36195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Pédagogie 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Équilibre Théorie &amp; Pratique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2491" y="4148583"/>
            <a:ext cx="3297584" cy="3619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Assistance IA 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Google NotebookLM &amp; Gemini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167633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2905" y="4167633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2491" y="4167633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3131"/>
            <a:ext cx="5334000" cy="3186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3131"/>
            <a:ext cx="5334000" cy="3186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488406"/>
            <a:ext cx="18954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793206"/>
            <a:ext cx="498062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Concepts Essentiels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155156"/>
            <a:ext cx="47434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L'Analogie de la Recette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Le </a:t>
            </a:r>
            <a:r>
              <a:rPr b="0" sz="1275" i="1" u="none">
                <a:solidFill>
                  <a:srgbClr val="475569"/>
                </a:solidFill>
                <a:latin typeface="Inter"/>
              </a:rPr>
              <a:t>programme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est la recette papier stockée sur disque. Le </a:t>
            </a:r>
            <a:r>
              <a:rPr b="0" sz="1275" i="1" u="none">
                <a:solidFill>
                  <a:srgbClr val="475569"/>
                </a:solidFill>
                <a:latin typeface="Inter"/>
              </a:rPr>
              <a:t>processus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est le cuisinier en train de préparer le plat en cuisine avec des ingrédients (mémoire) et des ustensiles (ressources CPU/fichiers).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241006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Visualisation claire des transitions d'états de base (Prêt, Élu, Bloqué) et observation directe via le terminal Linux (`ps` et `top`).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488406"/>
            <a:ext cx="27051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1775" y="2793206"/>
            <a:ext cx="498062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Analyse Kernel &amp; Interne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155156"/>
            <a:ext cx="47434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Au Cœur du Noyau Linux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Étude approfondie de la structure `task_struct`, gestion de la mémoire virtuelle (MMU/TLB flush lors des context switches), et implémentation 1:1 du modèle NPTL (Native POSIX Thread Library).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241006"/>
            <a:ext cx="47434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Algorithmes complexes : Ordonnanceur CFS (Completely Fair Scheduler) et prévention structurée des deadlocks de Coffman.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Approche Pédagogique Adaptative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6437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Le noyau gère la transition dynamique des processus entre plusieurs états fondamentaux 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81450"/>
            <a:ext cx="5334000" cy="619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61223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614612"/>
            <a:ext cx="4953000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Nouveau (New)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Allocations initiales et création de la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855118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857500"/>
            <a:ext cx="4953000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Prêt (Ready)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En attente d'attribution du CPU par le scheduler.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09800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100387"/>
            <a:ext cx="4953000" cy="242887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Élu (Running)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Exécution effective sur un cœur CPU.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340893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343275"/>
            <a:ext cx="49530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Bloqué (Waiting)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En attente d'E/S ou de la libération d'un verrou.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105275"/>
            <a:ext cx="1047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Cycle de Vie d'un Processus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8868"/>
            <a:ext cx="3530649" cy="2814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78868"/>
            <a:ext cx="3530649" cy="28146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78868"/>
            <a:ext cx="3530649" cy="2814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2265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1. Identité &amp; État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88543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Stocke le PID (Process ID), le PPID (Parent PID) et l'état courant (TASK_RUNNING, TASK_INTERRUPTIBLE) pour le suivi par le noyau.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6974" y="32265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2. Contexte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6974" y="3588543"/>
            <a:ext cx="29781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Sauvegarde des registres généraux, du pointeur de pile (SP) et du compteur de programme (PC) lors d'une interruption.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224" y="32265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3. Ressources &amp; Mémoire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224" y="3588543"/>
            <a:ext cx="297819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Maintient la table des pages (mémoire virtuelle), la table des descripteurs de fichiers ouverts et les droits système.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93193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93193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93193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Anatomie du PCB (Process Control Block)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3618"/>
            <a:ext cx="5334000" cy="1885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2588418"/>
            <a:ext cx="4724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0" sz="7500" i="0" u="none">
                <a:solidFill>
                  <a:srgbClr val="0284C7"/>
                </a:solidFill>
                <a:latin typeface="Plus Jakarta Sans ExtraBold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636168"/>
            <a:ext cx="472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Overhead Purely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283618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Pourquoi les switchs coûtent cher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645568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Pendant un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Context Switch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, aucun travail applicatif utile n'est exécuté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245643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1. Sauvegarde et chargement des registres matériels dans la structure `task_struct`.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845718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2. Invalidation des caches du processeur et vidage du TLB (Translation Lookaside Buffer) lors des changements d'espace d'adressage.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688681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1" u="none">
                <a:solidFill>
                  <a:srgbClr val="475569"/>
                </a:solidFill>
                <a:latin typeface="Inter"/>
              </a:rPr>
              <a:t>Un surdimensionnement du nombre de processus entraîne une baisse drastique du rendement global du système.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Coût du Changement de Contexte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476250"/>
            <a:ext cx="542067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Processus vs Threads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190625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Isolation ou Partage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552575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Processus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Espace mémoire hermétique et isolé. Protection maximale en cas de crash, mais coût élevé de création et communication via IPC requise.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395537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Threads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Unité d'exécution légère partageant le tas (Heap) et les fichiers du processus parent. Idéal pour la haute performance et la faible latence.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114550"/>
            <a:ext cx="11049000" cy="33432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114550"/>
          <a:ext cx="11048998" cy="334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88567"/>
                <a:gridCol w="4177158"/>
                <a:gridCol w="4283273"/>
              </a:tblGrid>
              <a:tr h="5572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Propriété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Processus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Thread (Fil d'exécution)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72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475569"/>
                          </a:solidFill>
                          <a:latin typeface="Inter"/>
                        </a:rPr>
                        <a:t>Espace Mémoire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Totalement isolé par la MMU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Partagé (Code, Données, Tas)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72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475569"/>
                          </a:solidFill>
                          <a:latin typeface="Inter"/>
                        </a:rPr>
                        <a:t>Coût de Création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Élevé (Lourd en ressources)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Très Faible (Léger)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72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475569"/>
                          </a:solidFill>
                          <a:latin typeface="Inter"/>
                        </a:rPr>
                        <a:t>Commutation (Switch)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Lente (Changement de table de pages)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Rapide (Même espace mémoire)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72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475569"/>
                          </a:solidFill>
                          <a:latin typeface="Inter"/>
                        </a:rPr>
                        <a:t>Communication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IPC (Pipes, Sockets, Shared Mem)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Directe (Variables globales / Tas)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721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475569"/>
                          </a:solidFill>
                          <a:latin typeface="Inter"/>
                        </a:rPr>
                        <a:t>Impact Défaillance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Crash isolé, n'impacte pas les autres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Un crash peut stopper tout le processus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657475"/>
            <a:ext cx="258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60067" y="2657475"/>
            <a:ext cx="4177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37226" y="2657475"/>
            <a:ext cx="428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214687"/>
            <a:ext cx="258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0067" y="3214687"/>
            <a:ext cx="4177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37226" y="3214687"/>
            <a:ext cx="428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771900"/>
            <a:ext cx="258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0067" y="3771900"/>
            <a:ext cx="4177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37226" y="3771900"/>
            <a:ext cx="428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329112"/>
            <a:ext cx="258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60067" y="4329112"/>
            <a:ext cx="4177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37226" y="4329112"/>
            <a:ext cx="428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886325"/>
            <a:ext cx="258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60067" y="4886325"/>
            <a:ext cx="4177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7226" y="4886325"/>
            <a:ext cx="428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443537"/>
            <a:ext cx="2588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60067" y="5443537"/>
            <a:ext cx="4177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7226" y="5443537"/>
            <a:ext cx="4283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Matrice Comparative : Processus vs Threads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638675"/>
            <a:ext cx="11049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Le CFS de Linux utilise un arbre rouge-noir (Red-Black Tree) pour offrir un compromis optimal entre latence interactive et débit global pour les tâches système.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Comparatif des Algorithmes d'Ordonnancement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957512"/>
            <a:ext cx="106489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Exclusion Mutuelle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Une ressource ne peut être détenue que par un seul processus à la fois.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371850"/>
            <a:ext cx="106489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Rétention et Attente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 processus détient une ressource tout en demandant une autre ressource occupée.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786187"/>
            <a:ext cx="106489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Pas de Préemption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Une ressource ne peut pas être retirée de force au processus qui la détient.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200525"/>
            <a:ext cx="106489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Attente Circulaire 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Une chaîne fermée de processus existe, où chacun attend une ressource tenue par le suivant.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71800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86137"/>
            <a:ext cx="2381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00475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14812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Interblocages : Les 4 Conditions de Coffman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3600"/>
            <a:ext cx="5410200" cy="3305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133600"/>
            <a:ext cx="5410200" cy="3305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295525"/>
            <a:ext cx="5086350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295525"/>
            <a:ext cx="5086350" cy="190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266" y="4314825"/>
            <a:ext cx="53406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E293B"/>
                </a:solidFill>
                <a:latin typeface="Plus Jakarta Sans"/>
              </a:rPr>
              <a:t>Commande `ps` &amp; `top`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676775"/>
            <a:ext cx="5086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Visualisation instantanée des PIDs, états et consommation CPU/Mémoire.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066" y="4314825"/>
            <a:ext cx="53406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E293B"/>
                </a:solidFill>
                <a:latin typeface="Plus Jakarta Sans"/>
              </a:rPr>
              <a:t>Le Pseudo-FS `/proc`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2225" y="4676775"/>
            <a:ext cx="5086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Exploration directe du noyau via `/proc/[PID]/status` et `/proc/sys`.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295525"/>
            <a:ext cx="5086350" cy="1905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2295525"/>
            <a:ext cx="5086350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Observation Système sous 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50393"/>
            <a:ext cx="2541240" cy="15573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3150393"/>
            <a:ext cx="2541240" cy="15573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3150393"/>
            <a:ext cx="2541240" cy="15573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259" y="3150393"/>
            <a:ext cx="2541240" cy="15573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10012"/>
            <a:ext cx="11049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995" y="3350418"/>
            <a:ext cx="224824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1. `fork()` / `clone()`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664743"/>
            <a:ext cx="214119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Duplication du processus parent (Copy-On-Write) ou création de thread.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3350418"/>
            <a:ext cx="224824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2. `execve()`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3664743"/>
            <a:ext cx="214119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Remplacement de l'espace mémoire par le nouveau binaire binaire à exécuter.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3350418"/>
            <a:ext cx="224824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3.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3664743"/>
            <a:ext cx="214119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Ordonnancement et alternance des cycles de calcul et d'E/S.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3350418"/>
            <a:ext cx="224824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4. `exit()` &amp; Zombie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3664743"/>
            <a:ext cx="214119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Terminaison et libération des ressources. Attente du code retour par le parent.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Cycle Systémique sous Linux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Questions &amp;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81125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0284C7"/>
                </a:solidFill>
                <a:latin typeface="Inter SemiBold"/>
              </a:rPr>
              <a:t>UE1 Module 2 — Processus et Threads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262" y="2286000"/>
            <a:ext cx="7229475" cy="42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81287" y="2409825"/>
            <a:ext cx="2238375" cy="18097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Inter"/>
              </a:rPr>
              <a:t>Présenté par 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[Prénom NOM]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0162" y="2409825"/>
            <a:ext cx="1590675" cy="18097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Inter"/>
              </a:rPr>
              <a:t>Cycle Ingénieur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(S1)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1337" y="2409825"/>
            <a:ext cx="26193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Inter"/>
              </a:rPr>
              <a:t>Assistance IA 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NotebookLM &amp; Gemini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287" y="2428875"/>
            <a:ext cx="1809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162" y="2428875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8687" y="2247900"/>
            <a:ext cx="10334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687" y="3019425"/>
            <a:ext cx="10334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687" y="3790950"/>
            <a:ext cx="10334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687" y="3009900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687" y="3009900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8687" y="3781425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687" y="3781425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8687" y="4552950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8687" y="4552950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239077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24062" y="2397918"/>
            <a:ext cx="92392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https://pravin-hub-rgb.github.io/BCA/resources/sem2/images/process2.svg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4062" y="2631281"/>
            <a:ext cx="923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pravin-hub-rgb.github.io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" y="316230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24062" y="3169443"/>
            <a:ext cx="92392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https://upload.wikimedia.org/wikipedia/commons/0/0a/Intel_i9-14900KF_CPU.jpg?utm_source=en.wikipedia.org&amp;utm_campaign=index&amp;utm_content=original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4062" y="3402806"/>
            <a:ext cx="923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en.wikipedia.org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" y="393382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024062" y="3940968"/>
            <a:ext cx="92392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https://www.jeffgeerling.com/blog/2025/top-10-ways-monitor-linux-console/asitop.jpg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4062" y="4174331"/>
            <a:ext cx="923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www.jeffgeerling.com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" y="470535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24062" y="4712493"/>
            <a:ext cx="92392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https://www.lynx.com/hs-fs/hubfs/system-architecture.png?width=2000&amp;name=system-architecture.png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4062" y="4945856"/>
            <a:ext cx="923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www.lynx.com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